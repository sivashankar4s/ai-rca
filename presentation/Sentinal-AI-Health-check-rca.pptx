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5029200" cy="6858000"/>
          </a:xfrm>
          <a:prstGeom prst="roundRect">
            <a:avLst>
              <a:gd name="adj" fmla="val 10000"/>
            </a:avLst>
          </a:prstGeom>
          <a:solidFill>
            <a:srgbClr val="0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⚙  ROCHE DS PLATFORM · AI-POWERED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E8F0FE"/>
                </a:solidFill>
                <a:latin typeface="Segoe UI"/>
              </a:rPr>
              <a:t>Sentinel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00B4D8"/>
                </a:solidFill>
                <a:latin typeface="Segoe U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FA8C8"/>
                </a:solidFill>
                <a:latin typeface="Segoe UI"/>
              </a:rPr>
              <a:t>Watch every pipeline service, then go from a raw failure to the exact root cause, the fix, and a one-click log deep-link — in 60 seconds, not hours. No AWS expertise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394960"/>
            <a:ext cx="2482596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77256"/>
            <a:ext cx="24825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Built &amp; running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8436" y="5394960"/>
            <a:ext cx="2903220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8436" y="5477256"/>
            <a:ext cx="29032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Service Health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74536" y="5394960"/>
            <a:ext cx="1641348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5477256"/>
            <a:ext cx="16413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Claude AI RCA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8763" y="5394960"/>
            <a:ext cx="2798064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8763" y="5477256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GitHub Code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Manual RCA is slow, error-prone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&amp; expert-only detective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FA8C8"/>
                </a:solidFill>
                <a:latin typeface="Segoe UI"/>
              </a:rPr>
              <a:t>When dp_monitor_db11224 lights up with FAILED records, an on-call engineer repeats four manual steps — each needing deep platform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10515600" cy="749808"/>
          </a:xfrm>
          <a:prstGeom prst="roundRect">
            <a:avLst>
              <a:gd name="adj" fmla="val 10000"/>
            </a:avLst>
          </a:prstGeom>
          <a:solidFill>
            <a:srgbClr val="1C1824"/>
          </a:solidFill>
          <a:ln w="12700">
            <a:solidFill>
              <a:srgbClr val="4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7066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A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76148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1518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Query Athena 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1693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Write SQL, guess the time window, filter for FAILED — 10–20 min 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0515600" cy="749808"/>
          </a:xfrm>
          <a:prstGeom prst="roundRect">
            <a:avLst>
              <a:gd name="adj" fmla="val 10000"/>
            </a:avLst>
          </a:prstGeom>
          <a:solidFill>
            <a:srgbClr val="1C1824"/>
          </a:solidFill>
          <a:ln w="12700">
            <a:solidFill>
              <a:srgbClr val="4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35753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A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63016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838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Author CloudWatch queries from scratch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8561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Must know log-group names, fields, error codes. One slip = zero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51960"/>
            <a:ext cx="10515600" cy="749808"/>
          </a:xfrm>
          <a:prstGeom prst="roundRect">
            <a:avLst>
              <a:gd name="adj" fmla="val 10000"/>
            </a:avLst>
          </a:prstGeom>
          <a:solidFill>
            <a:srgbClr val="1C1824"/>
          </a:solidFill>
          <a:ln w="12700">
            <a:solidFill>
              <a:srgbClr val="4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443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A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49884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5254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Read hundreds of log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5429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Correlate trace IDs, device IDs, error codes by eye. Easy to miss the pattern.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20640"/>
            <a:ext cx="10515600" cy="749808"/>
          </a:xfrm>
          <a:prstGeom prst="roundRect">
            <a:avLst>
              <a:gd name="adj" fmla="val 10000"/>
            </a:avLst>
          </a:prstGeom>
          <a:solidFill>
            <a:srgbClr val="1C1824"/>
          </a:solidFill>
          <a:ln w="12700">
            <a:solidFill>
              <a:srgbClr val="4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" y="5312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A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36752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2122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Write the RCA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52297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Document cause, impact, fix, escalation — another 30–60 min of 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053328"/>
            <a:ext cx="10515600" cy="9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1081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F0FE"/>
                </a:solidFill>
                <a:latin typeface="Segoe UI"/>
              </a:rPr>
              <a:t>Total: </a:t>
            </a:r>
            <a:r>
              <a:rPr sz="1250" b="0">
                <a:solidFill>
                  <a:srgbClr val="8FA8C8"/>
                </a:solidFill>
                <a:latin typeface="Segoe UI"/>
              </a:rPr>
              <a:t>1–3 hours of senior-engineer time per incident — the biggest drag on on-call.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WHO IT'S FOR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One tool, three audiences — zero prerequisite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23317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1284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E8F0FE"/>
                </a:solidFill>
                <a:latin typeface="Segoe UI"/>
              </a:rPr>
              <a:t>👨‍💻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788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B4D8"/>
                </a:solidFill>
                <a:latin typeface="Segoe UI"/>
              </a:rPr>
              <a:t>PLATFORM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063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F0FE"/>
                </a:solidFill>
                <a:latin typeface="Segoe UI"/>
              </a:rPr>
              <a:t>On-Call SRE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45643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Paged at 2 AM for 50+ failing records. Needs the root cause now — without touching Athena or CloudWatch by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011680"/>
            <a:ext cx="3383280" cy="23317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1284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E8F0FE"/>
                </a:solidFill>
                <a:latin typeface="Segoe U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88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B4D8"/>
                </a:solidFill>
                <a:latin typeface="Segoe UI"/>
              </a:rPr>
              <a:t>QA / TEST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063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F0FE"/>
                </a:solidFill>
                <a:latin typeface="Segoe UI"/>
              </a:rPr>
              <a:t>QA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45643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Validates pipeline health after each deploy. Confirms no new failure patterns crept in — no deep AWS skills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011680"/>
            <a:ext cx="3383280" cy="23317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1284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E8F0FE"/>
                </a:solidFill>
                <a:latin typeface="Segoe UI"/>
              </a:rPr>
              <a:t>🧑‍💼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B4D8"/>
                </a:solidFill>
                <a:latin typeface="Segoe UI"/>
              </a:rPr>
              <a:t>TECH LEAD /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F0FE"/>
                </a:solidFill>
                <a:latin typeface="Segoe UI"/>
              </a:rPr>
              <a:t>Engineering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5643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Reads the executive summary at stand-up and shares a stakeholder-ready status — without opening a console.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10000"/>
            </a:avLst>
          </a:prstGeom>
          <a:solidFill>
            <a:srgbClr val="0E1F38"/>
          </a:solidFill>
          <a:ln w="12700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006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F0FE"/>
                </a:solidFill>
                <a:latin typeface="Segoe UI"/>
              </a:rPr>
              <a:t>The barrier removed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389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FA8C8"/>
                </a:solidFill>
                <a:latin typeface="Segoe UI"/>
              </a:rPr>
              <a:t>No need to know Athena SQL, CloudWatch Insights syntax, log-group paths, or which error codes map to which components. A junior engineer can now run a full RCA — the only prerequisite is read-only AWS credentials, supplied live in the app.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THE SOLUTION · WHAT YOU GET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A two-step web app that runs the whole investigation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597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1 · Fetch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6207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Pick a range (1h/1d/1w or custom) + optional filters. Athena returns a paginated FAILED table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874519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597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2 · 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6207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Select the rows that matter, click Analyze. The AI hunts the logs and returns grouped root causes.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874519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574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C55E"/>
                </a:solidFill>
                <a:latin typeface="Segoe U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4597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Failure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86207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Error pattern, root cause, category, impact count, immediate action, likely fix, affected files, escalation.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11880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7947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0A500"/>
                </a:solidFill>
                <a:latin typeface="Segoe UI"/>
              </a:rP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19709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Executive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59943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A 2–3 sentence, stakeholder-ready report generated automatically. Copy, paste into a ticket, done.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611880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7947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A855F7"/>
                </a:solidFill>
                <a:latin typeface="Segoe UI"/>
              </a:rP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9709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One-click log deep-links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9943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Every group carries a ready-made CloudWatch / Grafana link — right query, log group, and time window.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4" y="3611880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7947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EF4444"/>
                </a:solidFill>
                <a:latin typeface="Segoe UI"/>
              </a:rPr>
              <a:t>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19709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Recurring-issue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59943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Repeat failures auto-link to a persistent RCA case, so 'we've seen this before' is flagged for you.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25780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0E1F38"/>
          </a:solidFill>
          <a:ln w="12700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132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F0FE"/>
                </a:solidFill>
                <a:latin typeface="Segoe UI"/>
              </a:rPr>
              <a:t>How to use it — 4 clicks:  </a:t>
            </a:r>
            <a:r>
              <a:rPr sz="1250" b="0">
                <a:solidFill>
                  <a:srgbClr val="8FA8C8"/>
                </a:solidFill>
                <a:latin typeface="Segoe UI"/>
              </a:rPr>
              <a:t>open the app → choose a time range → Fetch Failures → tick rows → Analyze Root Cause.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From alert to actionable RCA in under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FA8C8"/>
                </a:solidFill>
                <a:latin typeface="Segoe UI"/>
              </a:rPr>
              <a:t>WHAT THE USER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86484" y="22402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5D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6484" y="231343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Open &amp;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0837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Default last 1h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0370" y="210312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23894" y="22402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5D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3894" y="231343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0098" y="2743200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0098" y="300837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Athena query runs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7779" y="210312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61303" y="22402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5D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3" y="231343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7507" y="2743200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507" y="300837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Tick rows / 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5190" y="210312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98713" y="22402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8713" y="231343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4917" y="2743200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4917" y="300837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AI pipeline runs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210312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36124" y="22402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36124" y="231343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2743200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2328" y="300837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Groups +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97763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FA8C8"/>
                </a:solidFill>
                <a:latin typeface="Segoe UI"/>
              </a:rPr>
              <a:t>WHAT THE SYSTEM DOES AUTOMATICALLY (BEHIND STEP 4)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297679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86484" y="443484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86484" y="450799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93775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Summarize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20293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Find error codes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60370" y="4297679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23894" y="443484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3894" y="450799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0098" y="493775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Gen queries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0098" y="520293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3 log queries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97779" y="4297679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61303" y="443484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61303" y="450799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7507" y="493775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Run queries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7507" y="520293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Parallel search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5190" y="4297679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98713" y="443484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98713" y="450799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4917" y="493775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Group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4917" y="520293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Correlate → causes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72600" y="4297679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36124" y="443484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36124" y="4507992"/>
            <a:ext cx="438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82328" y="493775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Render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82328" y="5202936"/>
            <a:ext cx="17465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Show in UI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A clean three-layer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FA8C8"/>
                </a:solidFill>
                <a:latin typeface="Segoe UI"/>
              </a:rPr>
              <a:t>Browser SPA → FastAPI orchestrator → pluggable AWS &amp; AI backends. Each layer swappable without touching the others.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0515600" cy="86868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203703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3113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855F7"/>
                </a:solidFill>
                <a:latin typeface="Segoe UI"/>
              </a:rPr>
              <a:t>FRONTEND · BROWSER SPA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624327"/>
            <a:ext cx="150876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79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🖥 HTML/CSS/JS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24327"/>
            <a:ext cx="169164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79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📋 Failure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24327"/>
            <a:ext cx="150876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79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📊 RCA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24327"/>
            <a:ext cx="178308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7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🔗 Log deep-links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624327"/>
            <a:ext cx="169164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697479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⚙ Config drawer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FA8C8"/>
                </a:solidFill>
                <a:latin typeface="Segoe UI"/>
              </a:rPr>
              <a:t>↕  REST JSON · POST /api/failures · POST /api/analyze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20440"/>
            <a:ext cx="10515600" cy="86868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3392424"/>
            <a:ext cx="3090672" cy="274320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4198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0B4D8"/>
                </a:solidFill>
                <a:latin typeface="Segoe UI"/>
              </a:rPr>
              <a:t>BACKEND · FASTAPI (PYTHON 3.13)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813048"/>
            <a:ext cx="160020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88620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🎼 Orchestrator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39" y="3813048"/>
            <a:ext cx="187452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39" y="388620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🧩 Plugin registry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3813048"/>
            <a:ext cx="169164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886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🗄 Data strategy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3813048"/>
            <a:ext cx="160020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88620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📜 Log strategy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813048"/>
            <a:ext cx="160020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88620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🤖 LLM strategy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3813048"/>
            <a:ext cx="123444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38862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F0FE"/>
                </a:solidFill>
                <a:latin typeface="Segoe UI"/>
              </a:rPr>
              <a:t>💾 Postgres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3484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FA8C8"/>
                </a:solidFill>
                <a:latin typeface="Segoe UI"/>
              </a:rPr>
              <a:t>↕  boto3 (AWS SDK) · HTTPS (Claude API) · MCP (GitHub)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709160"/>
            <a:ext cx="5120640" cy="86868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51560" y="458114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60857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0A500"/>
                </a:solidFill>
                <a:latin typeface="Segoe UI"/>
              </a:rPr>
              <a:t>AWS SERVICES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5001768"/>
            <a:ext cx="1078992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074920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8F0FE"/>
                </a:solidFill>
                <a:latin typeface="Segoe UI"/>
              </a:rPr>
              <a:t>🏛 Athena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67712" y="5001768"/>
            <a:ext cx="1078992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67712" y="5074920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8F0FE"/>
                </a:solidFill>
                <a:latin typeface="Segoe UI"/>
              </a:rPr>
              <a:t>📡 CloudWatch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38144" y="5001768"/>
            <a:ext cx="1078992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38144" y="5074920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8F0FE"/>
                </a:solidFill>
                <a:latin typeface="Segoe UI"/>
              </a:rPr>
              <a:t>📁 S3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08576" y="5001768"/>
            <a:ext cx="1078992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08576" y="5074920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8F0FE"/>
                </a:solidFill>
                <a:latin typeface="Segoe UI"/>
              </a:rPr>
              <a:t>🔑 IAM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709160"/>
            <a:ext cx="5120640" cy="86868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46520" y="4581144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60857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2C55E"/>
                </a:solidFill>
                <a:latin typeface="Segoe UI"/>
              </a:rPr>
              <a:t>AI &amp; CODE INTELLIGENCE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5001768"/>
            <a:ext cx="224028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0749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E8F0FE"/>
                </a:solidFill>
                <a:latin typeface="Segoe UI"/>
              </a:rPr>
              <a:t>🧠 Claude (Anthropic)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69680" y="5001768"/>
            <a:ext cx="2240280" cy="402336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50749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E8F0FE"/>
                </a:solidFill>
                <a:latin typeface="Segoe UI"/>
              </a:rPr>
              <a:t>🔗 GitHub MCP server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DESIGN PATTERNS · WHY IT'S BUILT TO LAST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Strategy + Plugin Registry = swap any backend in one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2082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0B4D8"/>
                </a:solidFill>
                <a:latin typeface="Segoe UI"/>
              </a:rPr>
              <a:t>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476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E"/>
                </a:solidFill>
                <a:latin typeface="Segoe UI"/>
              </a:rPr>
              <a:t>Strategy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76856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The orchestrator depends only on three interfaces — DataSource, LLM, LogAnalysis. It never knows which backend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7238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0B4D8"/>
                </a:solidFill>
                <a:latin typeface="Segoe UI"/>
              </a:rP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99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E"/>
                </a:solidFill>
                <a:latin typeface="Segoe UI"/>
              </a:rPr>
              <a:t>Plugin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28415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Providers wired at request time from config. Athena↔local file, CloudWatch↔Loki, Claude↔any model — flipped by env var.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7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23943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0B4D8"/>
                </a:solidFill>
                <a:latin typeface="Segoe UI"/>
              </a:rPr>
              <a:t>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5079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E"/>
                </a:solidFill>
                <a:latin typeface="Segoe UI"/>
              </a:rPr>
              <a:t>Open for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79975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A new backend = one new provider file. Orchestrator and API routes never change. Zero regression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206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75503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0B4D8"/>
                </a:solidFill>
                <a:latin typeface="Segoe UI"/>
              </a:rP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023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E"/>
                </a:solidFill>
                <a:latin typeface="Segoe UI"/>
              </a:rPr>
              <a:t>Testable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431536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Local-file + fake-LLM providers run the whole pipeline with no AWS, no keys — ideal for CI and demos.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1965960"/>
            <a:ext cx="4572000" cy="402336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240280"/>
            <a:ext cx="41148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B85"/>
                </a:solidFill>
                <a:latin typeface="Segoe UI"/>
              </a:rPr>
              <a:t># Orchestrator depends on abstractions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A855F7"/>
                </a:solidFill>
                <a:latin typeface="Segoe UI"/>
              </a:rPr>
              <a:t>class </a:t>
            </a:r>
            <a:r>
              <a:rPr sz="1150" b="0">
                <a:solidFill>
                  <a:srgbClr val="00B4D8"/>
                </a:solidFill>
                <a:latin typeface="Segoe UI"/>
              </a:rPr>
              <a:t>RCAOrchestrator: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FA8C8"/>
                </a:solidFill>
                <a:latin typeface="Segoe UI"/>
              </a:rPr>
              <a:t>  def __init__(self, data, llm, logs):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FA8C8"/>
                </a:solidFill>
                <a:latin typeface="Segoe UI"/>
              </a:rPr>
              <a:t>    self.data = data   </a:t>
            </a:r>
            <a:r>
              <a:rPr sz="1050" b="0">
                <a:solidFill>
                  <a:srgbClr val="5B6B85"/>
                </a:solidFill>
                <a:latin typeface="Segoe UI"/>
              </a:rPr>
              <a:t># DataSource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FA8C8"/>
                </a:solidFill>
                <a:latin typeface="Segoe UI"/>
              </a:rPr>
              <a:t>    self.llm  = llm    </a:t>
            </a:r>
            <a:r>
              <a:rPr sz="1050" b="0">
                <a:solidFill>
                  <a:srgbClr val="5B6B85"/>
                </a:solidFill>
                <a:latin typeface="Segoe UI"/>
              </a:rPr>
              <a:t># LLM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FA8C8"/>
                </a:solidFill>
                <a:latin typeface="Segoe UI"/>
              </a:rPr>
              <a:t>    self.logs = logs   </a:t>
            </a:r>
            <a:r>
              <a:rPr sz="1050" b="0">
                <a:solidFill>
                  <a:srgbClr val="5B6B85"/>
                </a:solidFill>
                <a:latin typeface="Segoe UI"/>
              </a:rPr>
              <a:t># LogAnalysis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8C8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B85"/>
                </a:solidFill>
                <a:latin typeface="Segoe UI"/>
              </a:rPr>
              <a:t># Registry picks providers from .env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FA8C8"/>
                </a:solidFill>
                <a:latin typeface="Segoe UI"/>
              </a:rPr>
              <a:t>data = registry.</a:t>
            </a:r>
            <a:r>
              <a:rPr sz="1150" b="0">
                <a:solidFill>
                  <a:srgbClr val="00B4D8"/>
                </a:solidFill>
                <a:latin typeface="Segoe UI"/>
              </a:rPr>
              <a:t>data_source</a:t>
            </a:r>
            <a:r>
              <a:rPr sz="1150" b="0">
                <a:solidFill>
                  <a:srgbClr val="22C55E"/>
                </a:solidFill>
                <a:latin typeface="Segoe UI"/>
              </a:rPr>
              <a:t>("athena")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FA8C8"/>
                </a:solidFill>
                <a:latin typeface="Segoe UI"/>
              </a:rPr>
              <a:t>llm  = registry.</a:t>
            </a:r>
            <a:r>
              <a:rPr sz="1150" b="0">
                <a:solidFill>
                  <a:srgbClr val="00B4D8"/>
                </a:solidFill>
                <a:latin typeface="Segoe UI"/>
              </a:rPr>
              <a:t>llm</a:t>
            </a:r>
            <a:r>
              <a:rPr sz="1150" b="0">
                <a:solidFill>
                  <a:srgbClr val="22C55E"/>
                </a:solidFill>
                <a:latin typeface="Segoe UI"/>
              </a:rPr>
              <a:t>("anthropic")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FA8C8"/>
                </a:solidFill>
                <a:latin typeface="Segoe UI"/>
              </a:rPr>
              <a:t>logs = registry.</a:t>
            </a:r>
            <a:r>
              <a:rPr sz="1150" b="0">
                <a:solidFill>
                  <a:srgbClr val="00B4D8"/>
                </a:solidFill>
                <a:latin typeface="Segoe UI"/>
              </a:rPr>
              <a:t>log_backend</a:t>
            </a:r>
            <a:r>
              <a:rPr sz="1150" b="0">
                <a:solidFill>
                  <a:srgbClr val="22C55E"/>
                </a:solidFill>
                <a:latin typeface="Segoe UI"/>
              </a:rPr>
              <a:t>("cloudwatch")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8C8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B85"/>
                </a:solidFill>
                <a:latin typeface="Segoe UI"/>
              </a:rPr>
              <a:t># Swap a backend? Add ONE 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INSIDE 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The LLM runs 5 precise jobs — each grounded in real failure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83280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0545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Summarize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07792"/>
            <a:ext cx="298094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Reads up to 50 records; finds failing components, error codes, stage clustering, time-based bursts.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920240"/>
            <a:ext cx="3383280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0545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Generate log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07792"/>
            <a:ext cx="298094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Writes 3 targeted queries: error-code search, component+ERROR filter, trace-ID correlation.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920240"/>
            <a:ext cx="3383280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10312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0A500"/>
                </a:solidFill>
                <a:latin typeface="Segoe UI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50545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Execute &amp; 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07792"/>
            <a:ext cx="298094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Runs the queries in parallel against the configured log backend and gathers relevant lines.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3383280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06908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C55E"/>
                </a:solidFill>
                <a:latin typeface="Segoe UI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47141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RCA + grouping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873752"/>
            <a:ext cx="298094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Correlates records + logs into structured groups with real field values — no vague 'check the logs'.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886200"/>
            <a:ext cx="3383280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06908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A855F7"/>
                </a:solidFill>
                <a:latin typeface="Segoe UI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7141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Executive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73752"/>
            <a:ext cx="298094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Distills all groups into a leadership-ready paragraph, ready to paste into an incident update.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4" y="3886200"/>
            <a:ext cx="3383280" cy="1691640"/>
          </a:xfrm>
          <a:prstGeom prst="roundRect">
            <a:avLst>
              <a:gd name="adj" fmla="val 10000"/>
            </a:avLst>
          </a:prstGeom>
          <a:solidFill>
            <a:srgbClr val="1122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06908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47141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873752"/>
            <a:ext cx="298094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Prompts demand actual values (component, error_code, stage). Robust JSON parsing tolerates markdown.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BEYOND RCA · SOURCE CODE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From 'why did it fail' to 'is the fix any good'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FA8C8"/>
                </a:solidFill>
                <a:latin typeface="Segoe UI"/>
              </a:rPr>
              <a:t>A GitHub MCP integration brings repo, branch, and PR awareness into the same app — and an AI reviewer inspects the diff.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5146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169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Repo &amp; PR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19272"/>
            <a:ext cx="2980944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Lists repo info, branches, and pull requests via the GitHub MCP server — no console-hopping.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331720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146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0A500"/>
                </a:solidFill>
                <a:latin typeface="Segoe UI"/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169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AI code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19272"/>
            <a:ext cx="2980944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One click fetches a PR/branch diff and sends it to Claude for a severity-ranked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331720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146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C55E"/>
                </a:solidFill>
                <a:latin typeface="Segoe UI"/>
              </a:rP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169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Related code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319272"/>
            <a:ext cx="2980944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Surfaces the commits &amp; PRs in the failure's time window — the likely change that broke things.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43400"/>
            <a:ext cx="2560320" cy="5029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531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🛡 Security &amp; secrets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343400"/>
            <a:ext cx="2011679" cy="5029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45312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🗄 SQL injection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343400"/>
            <a:ext cx="2340864" cy="5029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4453128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📐 SonarQube smells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4464" y="4343400"/>
            <a:ext cx="1682495" cy="5029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4453128"/>
            <a:ext cx="16824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🎨 Formatting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4343400"/>
            <a:ext cx="2011679" cy="50292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445312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💡 Feature ideas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FA8C8"/>
                </a:solidFill>
                <a:latin typeface="Segoe UI"/>
              </a:rPr>
              <a:t>The AI reviewer checks every diff for the five categories above — ranked critical → info.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BEYOND RCA · PROACTIVE SERVICE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See every pipeline service at a glance 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then drill into exactly why it failed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597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Health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6207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Glue jobs, workflows, Lambdas &amp; DataSync tasks each show up/down + a failure count, colour-coded, with a running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874519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5DAB"/>
                </a:solidFill>
                <a:latin typeface="Segoe UI"/>
              </a:rPr>
              <a:t>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597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Monitoring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6207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Group resources into named profiles (e.g. 'Prod ETL') and switch between them — each team watches just its own pipelines.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874519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574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A855F7"/>
                </a:solidFill>
                <a:latin typeface="Segoe UI"/>
              </a:rP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45973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Any time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86207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Count failures over 1h / 24h / 7d or a custom date range — the same range carries into the drill-down.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11880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7947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C55E"/>
                </a:solidFill>
                <a:latin typeface="Segoe UI"/>
              </a:rPr>
              <a:t>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19709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Run-history drill-down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59943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Click a service to see its individual runs / invocations — success or failure — with timestamps and error detail.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611880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7947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0A500"/>
                </a:solidFill>
                <a:latin typeface="Segoe UI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9709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Fetch failure reasons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9943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One click pulls the CloudWatch log reasons behind the failures — the same detector that powers RCA.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4" y="3611880"/>
            <a:ext cx="3383280" cy="148132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7947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EF4444"/>
                </a:solidFill>
                <a:latin typeface="Segoe UI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197096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Zero console-hopping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59943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All from read-only AWS credentials supplied in-app — no Glue, Lambda, or DataSync console needed.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25780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0E1F38"/>
          </a:solidFill>
          <a:ln w="12700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132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F0FE"/>
                </a:solidFill>
                <a:latin typeface="Segoe UI"/>
              </a:rPr>
              <a:t>Reactive RCA, meet proactive monitoring:  </a:t>
            </a:r>
            <a:r>
              <a:rPr sz="1250" b="0">
                <a:solidFill>
                  <a:srgbClr val="8FA8C8"/>
                </a:solidFill>
                <a:latin typeface="Segoe UI"/>
              </a:rPr>
              <a:t>Service Health surfaces failing jobs, workflows, and functions on demand — and drills down to the root-cause logs in the same app.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END-TO-END · HOW EVERY FEATURE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One app, three workflows 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from setup to resolved incident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0E1F38"/>
          </a:solidFill>
          <a:ln w="12700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F0FE"/>
                </a:solidFill>
                <a:latin typeface="Segoe UI"/>
              </a:rPr>
              <a:t>①  Setup (once):  </a:t>
            </a:r>
            <a:r>
              <a:rPr sz="1150" b="0">
                <a:solidFill>
                  <a:srgbClr val="8FA8C8"/>
                </a:solidFill>
                <a:latin typeface="Segoe UI"/>
              </a:rPr>
              <a:t>AWS credentials, CloudWatch log groups, health profiles, GitHub repo — all in the Config tab.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6148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B4D8"/>
                </a:solidFill>
                <a:latin typeface="Segoe UI"/>
              </a:rPr>
              <a:t>🩺 Service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706624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775203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Pick profile +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74320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2706624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2775203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Up/down +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74320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9752" y="2706624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2775203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Drill into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274320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8" y="2706624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2775203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Fetch CW reasons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310128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511296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855F7"/>
                </a:solidFill>
                <a:latin typeface="Segoe UI"/>
              </a:rPr>
              <a:t>🧠 Root Cause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3456432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352501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Fetch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349300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3456432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1496" y="352501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Select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9300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9752" y="3456432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9752" y="352501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AI analyzes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49300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3456432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352501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Causes + log links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059936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4261104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0A500"/>
                </a:solidFill>
                <a:latin typeface="Segoe UI"/>
              </a:rPr>
              <a:t>🔗 Code Intelligence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4206240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2748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Browse repo / PRs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5464" y="424281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11496" y="4206240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11496" y="42748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AI code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24281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59752" y="4206240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9752" y="42748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Ranked findings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1976" y="424281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08008" y="4206240"/>
            <a:ext cx="1792224" cy="36576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08008" y="42748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8F0FE"/>
                </a:solidFill>
                <a:latin typeface="Segoe UI"/>
              </a:rPr>
              <a:t>Related change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029200"/>
            <a:ext cx="10515600" cy="868680"/>
          </a:xfrm>
          <a:prstGeom prst="roundRect">
            <a:avLst>
              <a:gd name="adj" fmla="val 10000"/>
            </a:avLst>
          </a:prstGeom>
          <a:solidFill>
            <a:srgbClr val="112230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The payoff:  </a:t>
            </a:r>
            <a:r>
              <a:rPr sz="1200" b="0">
                <a:solidFill>
                  <a:srgbClr val="8FA8C8"/>
                </a:solidFill>
                <a:latin typeface="Segoe UI"/>
              </a:rPr>
              <a:t>failures caught early on the Health dashboard, root-caused in seconds, and the suspect code change reviewed — without leaving the app or opening an AWS console.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WHY SENTINEL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The advantages that matter to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487168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488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0B4D8"/>
                </a:solidFill>
                <a:latin typeface="Segoe UI"/>
              </a:rPr>
              <a:t>~98%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43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F0FE"/>
                </a:solidFill>
                <a:latin typeface="Segoe UI"/>
              </a:rPr>
              <a:t>Faster to 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632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FA8C8"/>
                </a:solidFill>
                <a:latin typeface="Segoe UI"/>
              </a:rPr>
              <a:t>1–3 hours of manual work collapses to under 2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65960"/>
            <a:ext cx="2487168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1488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0B4D8"/>
                </a:solidFill>
                <a:latin typeface="Segoe 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743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F0FE"/>
                </a:solidFill>
                <a:latin typeface="Segoe UI"/>
              </a:rPr>
              <a:t>Prerequisite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30632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FA8C8"/>
                </a:solidFill>
                <a:latin typeface="Segoe UI"/>
              </a:rPr>
              <a:t>No Athena SQL, no CloudWatch syntax, no tribal knowledge.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2487168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488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0B4D8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743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F0FE"/>
                </a:solidFill>
                <a:latin typeface="Segoe UI"/>
              </a:rPr>
              <a:t>File to add a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632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FA8C8"/>
                </a:solidFill>
                <a:latin typeface="Segoe UI"/>
              </a:rPr>
              <a:t>Vendor-flexible by design — swap AWS, log source, or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965960"/>
            <a:ext cx="2487168" cy="169164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21488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0B4D8"/>
                </a:solidFill>
                <a:latin typeface="Segoe UI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743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F0FE"/>
                </a:solidFill>
                <a:latin typeface="Segoe UI"/>
              </a:rPr>
              <a:t>Runtime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30632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FA8C8"/>
                </a:solidFill>
                <a:latin typeface="Segoe UI"/>
              </a:rPr>
              <a:t>Credentials, region, DB, and model changed in-app — no restart.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31920"/>
            <a:ext cx="5257800" cy="18288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11480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C55E"/>
                </a:solidFill>
                <a:latin typeface="Segoe U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517136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Secure &amp; auditable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919472"/>
            <a:ext cx="485546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Secrets are write-only in the UI (never returned to the browser). Every fetch is snapshotted; every RCA is persisted with a case history for a full audit trail.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931920"/>
            <a:ext cx="5074920" cy="18288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114800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00B4D8"/>
                </a:solidFill>
                <a:latin typeface="Segoe UI"/>
              </a:rPr>
              <a:t>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517136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Consistent &amp; repeatable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4919472"/>
            <a:ext cx="4672583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8FA8C8"/>
                </a:solidFill>
                <a:latin typeface="Segoe UI"/>
              </a:rPr>
              <a:t>The same rigorous 5-step investigation runs every time — no steps skipped under pressure, no variation between engineers, day or night.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Time saved per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FA8C8"/>
                </a:solidFill>
                <a:latin typeface="Segoe UI"/>
              </a:rPr>
              <a:t>Measured against the manual 4-step RCA for a typical 50-record pipeline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83280" cy="18288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F4444"/>
                </a:solidFill>
                <a:latin typeface="Segoe UI"/>
              </a:rPr>
              <a:t>Manual: 15–30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2C55E"/>
                </a:solidFill>
                <a:latin typeface="Segoe UI"/>
              </a:rPr>
              <a:t>&lt;30s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FA8C8"/>
                </a:solidFill>
                <a:latin typeface="Segoe UI"/>
              </a:rPr>
              <a:t>Failure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✓ Instant on 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148840"/>
            <a:ext cx="3383280" cy="18288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3317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F4444"/>
                </a:solidFill>
                <a:latin typeface="Segoe UI"/>
              </a:rPr>
              <a:t>Manual: 20–45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6060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0A500"/>
                </a:solidFill>
                <a:latin typeface="Segoe UI"/>
              </a:rPr>
              <a:t>&lt;60s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3101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FA8C8"/>
                </a:solidFill>
                <a:latin typeface="Segoe UI"/>
              </a:rPr>
              <a:t>Log query +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6118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✓ Auto-generated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148840"/>
            <a:ext cx="3383280" cy="182880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3" y="23317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F4444"/>
                </a:solidFill>
                <a:latin typeface="Segoe UI"/>
              </a:rPr>
              <a:t>Manual: 30–60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3" y="26060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00B4D8"/>
                </a:solidFill>
                <a:latin typeface="Segoe UI"/>
              </a:rPr>
              <a:t>&lt;90s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33101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FA8C8"/>
                </a:solidFill>
                <a:latin typeface="Segoe UI"/>
              </a:rPr>
              <a:t>Full RCA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6118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✓ Instant after Analyze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06240"/>
            <a:ext cx="10515600" cy="1737360"/>
          </a:xfrm>
          <a:prstGeom prst="roundRect">
            <a:avLst>
              <a:gd name="adj" fmla="val 1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F0FE"/>
                </a:solidFill>
                <a:latin typeface="Segoe UI"/>
              </a:rPr>
              <a:t>Manual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891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F4444"/>
                </a:solidFill>
                <a:latin typeface="Segoe UI"/>
              </a:rPr>
              <a:t>1 – 3 hours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9966960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F0FE"/>
                </a:solidFill>
                <a:latin typeface="Segoe UI"/>
              </a:rPr>
              <a:t>Sentinel AI (end-to-end)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0292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60 – 120 seconds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3492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623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Segoe UI"/>
              </a:rPr>
              <a:t>~98% </a:t>
            </a:r>
            <a:r>
              <a:rPr sz="1200" b="0">
                <a:solidFill>
                  <a:srgbClr val="8FA8C8"/>
                </a:solidFill>
                <a:latin typeface="Segoe UI"/>
              </a:rPr>
              <a:t>reduction in mean time to root cause — and the knowledge barrier is gone entirely.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FUTURE POSSIBILITIES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E"/>
                </a:solidFill>
                <a:latin typeface="Segoe UI"/>
              </a:rPr>
              <a:t>Built today · designed to grow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FA8C8"/>
                </a:solidFill>
                <a:latin typeface="Segoe UI"/>
              </a:rPr>
              <a:t>The strategy/plugin architecture means each item below is an add-on, not a rewrite.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67128"/>
            <a:ext cx="960120" cy="384048"/>
          </a:xfrm>
          <a:prstGeom prst="rect">
            <a:avLst/>
          </a:pr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2C55E"/>
                </a:solidFill>
                <a:latin typeface="Segoe U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14884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AI RCA · service health monitoring · runtime config · direct Claude · code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45059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The investigation pipeline, the proactive Glue/Lambda/DataSync health dashboard with profiles, live config, and GitHub code review are shipped and running.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08376"/>
            <a:ext cx="960120" cy="384048"/>
          </a:xfrm>
          <a:prstGeom prst="rect">
            <a:avLst/>
          </a:prstGeom>
          <a:noFill/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7238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0A500"/>
                </a:solidFill>
                <a:latin typeface="Segoe U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990088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Auto-link RCA → PR &amp; inline review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9184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Surface the pull request that fixes a failure, and post AI findings straight onto the PR at the right 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49624"/>
            <a:ext cx="960120" cy="384048"/>
          </a:xfrm>
          <a:prstGeom prst="rect">
            <a:avLst/>
          </a:prstGeom>
          <a:noFill/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0A500"/>
                </a:solidFill>
                <a:latin typeface="Segoe U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831336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Full repository scan &amp; failure-trend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13308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Run the review checklist across the whole repo; aggregate snapshots into trends, top errors, and MTTR.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90872"/>
            <a:ext cx="960120" cy="384048"/>
          </a:xfrm>
          <a:prstGeom prst="rect">
            <a:avLst/>
          </a:prstGeom>
          <a:noFill/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855F7"/>
                </a:solidFill>
                <a:latin typeface="Segoe UI"/>
              </a:rP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672584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Integration hub — Jira · Slack ·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974336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Auto-raise tickets, notify channels, and alert stakeholders when failures cross a threshold. No copy-paste.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532120"/>
            <a:ext cx="960120" cy="384048"/>
          </a:xfrm>
          <a:prstGeom prst="rect">
            <a:avLst/>
          </a:prstGeom>
          <a:noFill/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9612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855F7"/>
                </a:solidFill>
                <a:latin typeface="Segoe UI"/>
              </a:rPr>
              <a:t>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51383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E"/>
                </a:solidFill>
                <a:latin typeface="Segoe UI"/>
              </a:rPr>
              <a:t>Predictive failure detection &amp; auto-remediation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81558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8"/>
                </a:solidFill>
                <a:latin typeface="Segoe UI"/>
              </a:rPr>
              <a:t>Learn from history to flag components likely to fail — and one-click re-submit failed records.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Sentinel AI · Roche DS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FA8C8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0">
                <a:solidFill>
                  <a:srgbClr val="00B4D8"/>
                </a:solidFill>
                <a:latin typeface="Segoe UI"/>
              </a:rP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Segoe UI"/>
              </a:rPr>
              <a:t>ROCHE DS PLATFORM · SENTINEL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8F0FE"/>
                </a:solidFill>
                <a:latin typeface="Segoe UI"/>
              </a:rPr>
              <a:t>From failure to fix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00B4D8"/>
                </a:solidFill>
                <a:latin typeface="Segoe UI"/>
              </a:rPr>
              <a:t>in 60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FA8C8"/>
                </a:solidFill>
                <a:latin typeface="Segoe UI"/>
              </a:rPr>
              <a:t>FastAPI · Athena · CloudWatch Insights · Glue/Lambda/DataSync health · Claude AI · GitHub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6959" y="5120640"/>
            <a:ext cx="1851660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6959" y="5202936"/>
            <a:ext cx="18516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~98% faster RCA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499" y="5120640"/>
            <a:ext cx="2798064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1499" y="5202936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Proactive service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2443" y="5120640"/>
            <a:ext cx="2798064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2443" y="5202936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Pluggable &amp; future-ready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3387" y="5120640"/>
            <a:ext cx="1641348" cy="457200"/>
          </a:xfrm>
          <a:prstGeom prst="roundRect">
            <a:avLst>
              <a:gd name="adj" fmla="val 50000"/>
            </a:avLst>
          </a:prstGeom>
          <a:solidFill>
            <a:srgbClr val="1E2D47"/>
          </a:solidFill>
          <a:ln w="12700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3387" y="5202936"/>
            <a:ext cx="16413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E"/>
                </a:solidFill>
                <a:latin typeface="Segoe UI"/>
              </a:rPr>
              <a:t>Running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